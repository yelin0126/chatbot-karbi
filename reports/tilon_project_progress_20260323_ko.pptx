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1F5F9"/>
                </a:solidFill>
              </a:rPr>
              <a:t>Tilon AI Chatbot 프로젝트 진행 보고</a:t>
            </a:r>
          </a:p>
          <a:p>
            <a:r>
              <a:rPr sz="1600">
                <a:solidFill>
                  <a:srgbClr val="BFCDE0"/>
                </a:solidFill>
              </a:rPr>
              <a:t>문서 기반 RAG 고도화, 업로드 워크플로우 안정화, QLoRA 준비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1F5F9"/>
                </a:solidFill>
              </a:rPr>
              <a:t>보고일: 2026-03-23</a:t>
            </a:r>
          </a:p>
          <a:p>
            <a:r>
              <a:rPr sz="1600">
                <a:solidFill>
                  <a:srgbClr val="BFCDE0"/>
                </a:solidFill>
              </a:rPr>
              <a:t>대상: 팀 리더 / 내부 진행 공유</a:t>
            </a:r>
          </a:p>
          <a:p>
            <a:r>
              <a:rPr sz="1600">
                <a:solidFill>
                  <a:srgbClr val="BFCDE0"/>
                </a:solidFill>
              </a:rPr>
              <a:t>프로젝트 상태: 중간 고도화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743200"/>
            <a:ext cx="4754880" cy="1463040"/>
          </a:xfrm>
          <a:prstGeom prst="roundRect">
            <a:avLst/>
          </a:prstGeom>
          <a:solidFill>
            <a:srgbClr val="101C2E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1F5F9"/>
                </a:solidFill>
              </a:rPr>
              <a:t>핵심 요약
RAG 기반 문서 QA는 안정권에 진입했고,
현재 주력 과제는 성능/평가 고도화와 QLoRA 학습 준비입니다.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목표: 한국어/영어 PDF 및 이미지 기반 문서 QA 챗봇 구축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핵심 구성: 파싱/OCR -&gt; 청킹/임베딩 -&gt; 하이브리드 검색 -&gt; 근거 기반 답변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확장 방향: 업로드 문서 QA, 다중 문서 비교, QLoRA 기반 응답 품질 향상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현재까지 구현된 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212080" cy="530352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1F5F9"/>
                </a:solidFill>
              </a:rPr>
              <a:t>완료된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830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텍스트 PDF / 스캔 PDF / 이미지 업로드 처리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업로드 문서 기억 및 사이드바 재선택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동일 파일 재업로드 시 중복 청크 정리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번들 PDF 모호성 감지 및 서브지침 범위 축소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212080" cy="530352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258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1F5F9"/>
                </a:solidFill>
              </a:rPr>
              <a:t>최근 확장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다중 업로드 및 선택 기반 비교형 질문 지원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비교형 벤치마크 파일 추가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QLoRA 학습용 초기 데이터셋 확장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실시간 지연시간을 고려한 하이브리드 검색 정책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평가 및 수치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1828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BFCDE0"/>
                </a:solidFill>
              </a:rPr>
              <a:t>2026-03-23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898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라이브러리 벤치마크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안정화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665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기존 문서 QA 기준선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898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업로드 벤치마크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642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8 rows / 소스 재현성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665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번들 PDF 모호성/거절 케이스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900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업로드 평균 답변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644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0.896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667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핵심 포인트 회수율 양호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900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검색 지연시간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644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Hybrid 8.9ms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6667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업로드 기준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재정렬 지연시간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646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Hybrid+Rerank 6692ms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2669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정확도 향상 있으나 실시간 채팅에는 과도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80560"/>
            <a:ext cx="5074920" cy="123444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590288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890AD"/>
                </a:solidFill>
              </a:rPr>
              <a:t>QLoRA 학습 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864608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25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2669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FCDE0"/>
                </a:solidFill>
              </a:rPr>
              <a:t>한글 20 / 영어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현재 단계와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1520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완료/강점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문서 업로드/파싱/청킹/벡터저장 구조 안정화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하이브리드 검색 + 문서 스코프 QA 동작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업로드 재선택 UI, 다중 업로드, 비교용 문서 선택 지원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라이브러리/업로드 벤치마크 기반선 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120640" cy="438912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1F5F9"/>
                </a:solidFill>
              </a:rPr>
              <a:t>현재 병목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Layer 9B: 검색 지연시간/런타임 최적화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재정렬기는 품질 향상은 있으나 실시간 비용이 큼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비교형 PDF QA는 구현되었지만 검증은 시작 단계</a:t>
            </a:r>
          </a:p>
          <a:p>
            <a:pPr>
              <a:spcAft>
                <a:spcPts val="800"/>
              </a:spcAft>
              <a:defRPr sz="1800">
                <a:solidFill>
                  <a:srgbClr val="BFCDE0"/>
                </a:solidFill>
              </a:defRPr>
            </a:pPr>
            <a:r>
              <a:t>QLoRA는 학습 스크립트/데이터 준비 단계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UI 및 사용자 흐름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웹 UI 기준으로 한 번에 여러 파일 업로드 가능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업로드한 문서는 좌측 사이드바에 기억되어 재사용 가능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여러 문서를 선택하면 비교 질문 흐름으로 전환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현재 UI는 내부 테스트용으로 충분하나, 운영용 완성도는 추가 개선 여지 존재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QLoRA 준비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학습 스크립트와 의존성 파일은 준비 완료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학습 데이터셋은 25개 샘플까지 확장 완료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현재 비중은 한국어 중심(20) + 영어 보조(5)</a:t>
            </a:r>
          </a:p>
          <a:p>
            <a:pPr>
              <a:spcAft>
                <a:spcPts val="1000"/>
              </a:spcAft>
              <a:defRPr sz="2200">
                <a:solidFill>
                  <a:srgbClr val="F1F5F9"/>
                </a:solidFill>
              </a:defRPr>
            </a:pPr>
            <a:r>
              <a:t>다음 단계는 비교/거절/영문 케이스를 조금 더 늘린 뒤 첫 adapter 학습 실행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다음 단계 제안</a:t>
            </a:r>
          </a:p>
        </p:txBody>
      </p:sp>
      <p:sp>
        <p:nvSpPr>
          <p:cNvPr id="4" name="Oval 3"/>
          <p:cNvSpPr/>
          <p:nvPr/>
        </p:nvSpPr>
        <p:spPr>
          <a:xfrm>
            <a:off x="1600200" y="1234440"/>
            <a:ext cx="731520" cy="731520"/>
          </a:xfrm>
          <a:prstGeom prst="ellipse">
            <a:avLst/>
          </a:prstGeom>
          <a:solidFill>
            <a:srgbClr val="1A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1220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23160" cy="288036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</a:rPr>
              <a:t>검색/비교 안정화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2103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FCDE0"/>
                </a:solidFill>
              </a:rPr>
              <a:t>비교형 PDF 벤치마크 실행
비교 응답 품질 점검 및 보정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1234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1220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423160" cy="288036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3042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</a:rPr>
              <a:t>평가셋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2743200"/>
            <a:ext cx="2103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FCDE0"/>
                </a:solidFill>
              </a:rPr>
              <a:t>한글 중심으로 질문셋 확대
영문/혼합 질의는 보조적으로 추가</a:t>
            </a:r>
          </a:p>
        </p:txBody>
      </p:sp>
      <p:sp>
        <p:nvSpPr>
          <p:cNvPr id="12" name="Oval 11"/>
          <p:cNvSpPr/>
          <p:nvPr/>
        </p:nvSpPr>
        <p:spPr>
          <a:xfrm>
            <a:off x="7269480" y="1234440"/>
            <a:ext cx="731520" cy="731520"/>
          </a:xfrm>
          <a:prstGeom prst="ellipse">
            <a:avLst/>
          </a:prstGeom>
          <a:solidFill>
            <a:srgbClr val="1A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1220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423160" cy="288036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042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</a:rPr>
              <a:t>QLoRA 준비 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743200"/>
            <a:ext cx="2103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FCDE0"/>
                </a:solidFill>
              </a:rPr>
              <a:t>학습 데이터 25 -&gt; 40+ 확대
강한 정답/거절/비교 케이스 보강</a:t>
            </a:r>
          </a:p>
        </p:txBody>
      </p:sp>
      <p:sp>
        <p:nvSpPr>
          <p:cNvPr id="16" name="Oval 15"/>
          <p:cNvSpPr/>
          <p:nvPr/>
        </p:nvSpPr>
        <p:spPr>
          <a:xfrm>
            <a:off x="10104120" y="12344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1220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423160" cy="2880360"/>
          </a:xfrm>
          <a:prstGeom prst="roundRect">
            <a:avLst/>
          </a:prstGeom>
          <a:solidFill>
            <a:srgbClr val="1520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304288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</a:rPr>
              <a:t>첫 학습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743200"/>
            <a:ext cx="2103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FCDE0"/>
                </a:solidFill>
              </a:rPr>
              <a:t>기준 모델 고정 후
첫 QLoRA adapter 학습 및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1F5F9"/>
                </a:solidFill>
              </a:rPr>
              <a:t>결론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4389120"/>
          </a:xfrm>
          <a:prstGeom prst="roundRect">
            <a:avLst/>
          </a:prstGeom>
          <a:solidFill>
            <a:srgbClr val="152035"/>
          </a:solidFill>
          <a:ln>
            <a:solidFill>
              <a:srgbClr val="1AA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</a:defRPr>
            </a:pPr>
            <a:r>
              <a:t>현재 프로젝트는 초기 프로토타입 단계를 넘어서, 문서 기반 RAG 제품의 핵심 구조를 확보한 상태입니다.</a:t>
            </a:r>
          </a:p>
          <a:p>
            <a:pPr>
              <a:spcAft>
                <a:spcPts val="1200"/>
              </a:spcAft>
              <a:defRPr sz="1800">
                <a:solidFill>
                  <a:srgbClr val="BFCDE0"/>
                </a:solidFill>
              </a:defRPr>
            </a:pPr>
            <a:r>
              <a:t>특히 업로드 문서 처리, 문서 스코프 QA, 벤치마크 기반 평가, 비교형 질문 지원까지 연결되었습니다.</a:t>
            </a:r>
          </a:p>
          <a:p>
            <a:pPr>
              <a:spcAft>
                <a:spcPts val="1200"/>
              </a:spcAft>
              <a:defRPr sz="1800">
                <a:solidFill>
                  <a:srgbClr val="BFCDE0"/>
                </a:solidFill>
              </a:defRPr>
            </a:pPr>
            <a:r>
              <a:t>다음 핵심 과제는 한글 중심 평가셋 확대와 QLoRA 학습 루프 시작입니다.</a:t>
            </a:r>
          </a:p>
          <a:p>
            <a:pPr>
              <a:spcAft>
                <a:spcPts val="1200"/>
              </a:spcAft>
              <a:defRPr sz="1800">
                <a:solidFill>
                  <a:srgbClr val="BFCDE0"/>
                </a:solidFill>
              </a:defRPr>
            </a:pPr>
            <a:r>
              <a:t>즉, 지금은 기능 추가보다 '품질 측정 -&gt; 데이터 확장 -&gt; 미세조정'으로 넘어가야 하는 시점입니다.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